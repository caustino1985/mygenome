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9584"/>
            <a:ext cx="8001000" cy="329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Genomic Privacy, Disability Rights, and Secure Health Data Systems: Implications for Supreme Court Review of Genetic Information, Pending Claims, and Federal Health Privacy Frameworks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940894" y="3925602"/>
            <a:ext cx="1262211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[Your Name]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158890" y="4295291"/>
            <a:ext cx="8262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June 1,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760738" y="4509604"/>
            <a:ext cx="16224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[Your University/Program]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73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77346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Executive Summary &amp; Core Thesis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48345"/>
            <a:ext cx="297266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Core Thesis for SCOTUS Relevance: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351955"/>
            <a:ext cx="80010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Modern genomic + health data creates profound privacy risks and opportunities for precision medicine, but current systems lack robust, verifiable protections. Technical solutions (TEEs, blockchain + TEE hybrids, pathway PRSs) can enable secure secondary use while protecting rights under the 4th/14th Amendments, HIPAA/GINA, and disability frameworks.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2066330"/>
            <a:ext cx="1400398" cy="3393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Key Integrations: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375" y="2512814"/>
            <a:ext cx="23822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23andMe genomic data analysis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375" y="2762845"/>
            <a:ext cx="23822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Clinical health 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4375" y="3012877"/>
            <a:ext cx="23822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Disability pending-death statistics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4375" y="3262908"/>
            <a:ext cx="23822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ADHD GWAS polymorphisms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4375" y="3512939"/>
            <a:ext cx="23822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Privacy-preserving technical literature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834408"/>
            <a:ext cx="1200485" cy="339328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Demonstrates: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4375" y="4280892"/>
            <a:ext cx="1977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Biological sex confirmation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375" y="4530923"/>
            <a:ext cx="1977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Chronic condition management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4375" y="4780955"/>
            <a:ext cx="1977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Genomic hypothesis testing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4375" y="5030986"/>
            <a:ext cx="1977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Privacy &amp; security frameworks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14375" y="5281017"/>
            <a:ext cx="19775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Public health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4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15441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Genomic Analysis Highlights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048345"/>
            <a:ext cx="676508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Dataset: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360884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genomeCaustinMcLaughlinFull20131024071559.txt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429125" y="1384102"/>
            <a:ext cx="11077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(~960k variants).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43063"/>
            <a:ext cx="1933919" cy="3393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Key Validated Findings: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4375" y="2089547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Biological Male Confirmation: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X-chromosome heterozygosity ~0.57% (vs. autosomal ~29.38%); PAR1 ~30.8%.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4375" y="2339578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Indel Rate: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~0.108%.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4375" y="2589609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Runs of Homozygosity (ROH):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1,504 segments (avg ~82 SNPs).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4375" y="2839641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GC bias: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~52.85% (array-driven).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4375" y="3089672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 Chromosome: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High No-Call rate (~58%), 0% heterozygosity.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4375" y="3339703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Chromosome 19: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Highest GC among autosomes (~56.57%).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4375" y="3589734"/>
            <a:ext cx="7147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HLA Region (Chr6):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~3.9× higher SNP density.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3911203"/>
            <a:ext cx="1253979" cy="339328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Tools/Methods: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1500" y="4357688"/>
            <a:ext cx="51928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Pandas, custom scripts, statistical tests (KS, Chi-square, Z-scores), visualizations.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Clinical Health Portfolio Summary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3786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Clinical Profile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23392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AIDS (B20) managed with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BIKTARVY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(Bictegravir/Emtricitabine/Tenofovir Alafenamide).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023467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Secondary: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Acute Hepatitis C (Diagnosed Jan 2026);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Reactive immunity for Hepatitis A &amp; B.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623542"/>
            <a:ext cx="3786188" cy="3393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3070027"/>
            <a:ext cx="3786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Male, 40 years old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Location: South Baltimore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Provider: Kaiser Permanente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86313" y="1119783"/>
            <a:ext cx="3786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Health Metrics &amp; Engagement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551980"/>
            <a:ext cx="171450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64919" y="1423392"/>
            <a:ext cx="30338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Metabolic Age: 32 (8 years below chronological)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994892"/>
            <a:ext cx="17145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64919" y="1866305"/>
            <a:ext cx="28983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Immunization: COVID-19, Flu, Meningococcal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437805"/>
            <a:ext cx="17145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64919" y="2309217"/>
            <a:ext cx="2653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engagement in ART and Telehealth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71500" y="4355902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Strategic Implications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71500" y="465951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profile demonstrates the real-world intersection of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genomic predispositions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chronic infectious disease management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the necessity for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disability/SSI considerations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modern healthcare systems.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627857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Disability Adjudication Context: The Human Cost of Delay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62658"/>
            <a:ext cx="378618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33,270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859161"/>
            <a:ext cx="37861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Deaths While Pending (FY2023)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269927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from the Social Security Administration (OASDI/SSI pending DDS/ALJ) reveals a staggering mortality rate among applicants awaiting determination.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887080"/>
            <a:ext cx="3786188" cy="117146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Findings: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 Delays in adjudication have direct life-and-death consequences. 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 Genomic-informed risk stratification could expedite critical 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reviews. 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 Highlights the urgent need for procedural due process reform.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262658"/>
            <a:ext cx="3786188" cy="2500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86313" y="3762970"/>
            <a:ext cx="3786188" cy="401836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SSA FY2023 Pending-Death Statistics (Excludes Federal Court Appeals)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8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2972135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ADHD &amp; Polygenic Insights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ADHD GWAS Polymorphisms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59111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Analysis of </a:t>
            </a:r>
            <a:r>
              <a:rPr lang="en-US" sz="10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adhd_gwas_polymorphisms.csv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reveals significant genetic architecture: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4375" y="1794867"/>
            <a:ext cx="41849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genome-wide significant SNPs with p-values ranging from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99329" y="1794867"/>
            <a:ext cx="8656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1e-6 to 1e-12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4950" y="1794867"/>
            <a:ext cx="397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109192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Strong genetic correlation with overlapping psychiatric traits including schizophrenia, bipolar disorder, MDD, and autism.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4375" y="2423517"/>
            <a:ext cx="21128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identified regions and genes: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27223" y="2423517"/>
            <a:ext cx="21353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MHC, ZNF804A, TCF4, CACNB2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2618" y="2423517"/>
            <a:ext cx="27322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others involved in neurodevelopment.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3166467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Support for Pathway-Based PRS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" y="3505795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Moving beyond aggregate scores to functional genomic insights: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4375" y="3841552"/>
            <a:ext cx="11356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Implementation of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850064" y="3841552"/>
            <a:ext cx="7940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PRSet-style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44108" y="3841552"/>
            <a:ext cx="27239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pathway analysis for nuanced risk profiling.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" y="4155877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the isolation of specific biological pathways (e.g., dopamine signaling) rather than single genome-wide scores.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447020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Provides a technically feasible method for secure, privacy-preserving computation within Trusted Execution Environments (TEEs).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74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20153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Privacy &amp; Security Technical Expertise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36004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Technical Solutions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423392"/>
            <a:ext cx="3600450" cy="6858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TEE-based Architectures: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TrustZone, OP-TEE, EnclaveTree, and TrustHealth for secure genomic computation.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194917"/>
            <a:ext cx="36004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Hybrids: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Aquareum and Golden Grain frameworks for auditable, decentralized health data.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737842"/>
            <a:ext cx="3600450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Privacy-Preserving ML: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Federated learning, MPC, and Differential Privacy for large-scale GWAS.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1423392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2194917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2737842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72050" y="1119783"/>
            <a:ext cx="36004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Challenges Addressed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72050" y="1423392"/>
            <a:ext cx="36004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Side-channel resistance and secure audit logs.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72050" y="1737717"/>
            <a:ext cx="36004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Post-quantum readiness for long-lived genomic data.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72050" y="2052042"/>
            <a:ext cx="3600450" cy="228600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Incremental updates and model marketplace security.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72050" y="1423392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72050" y="1737717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72050" y="2052042"/>
            <a:ext cx="500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1500" y="3623667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Implementation Readiness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1500" y="3927277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portfolio demonstrates immediate deployment capability using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Open-TEE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synthetic read generation, and </a:t>
            </a:r>
            <a:r>
              <a:rPr lang="en-US" sz="1000" b="1" dirty="0">
                <a:solidFill>
                  <a:srgbClr val="3F3F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EmLog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secure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logging. These tools directly mitigate re-identification risks in 23andMe and clinical datasets while enabling secondary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 and clinical utility.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Portfolio Deliverables &amp; Capabilities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3786188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Core Deliverables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44836"/>
            <a:ext cx="125016" cy="1785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3672" y="1544836"/>
            <a:ext cx="355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Genomic Pipeline: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Validated on personal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with 500+ hypothesis tests.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192"/>
            <a:ext cx="142875" cy="1785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2109192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Privacy-Enhancing Tech Stack: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TEE and Blockchain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integration for compliant data sharing.</a:t>
            </a:r>
            <a:endParaRPr lang="en-US" sz="1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73548"/>
            <a:ext cx="107156" cy="17859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85813" y="2673548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Health Profile: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Direct linkage between raw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SNPs and clinical management.</a:t>
            </a:r>
            <a:endParaRPr lang="en-US" sz="1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37905"/>
            <a:ext cx="142875" cy="17859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1531" y="3237905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 Health Statistics: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Contextualized analysis of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disability mortality rates.</a:t>
            </a:r>
            <a:endParaRPr lang="en-US" sz="10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02261"/>
            <a:ext cx="142875" cy="17859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1531" y="3802261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SCOTUS-Relevant Analysis: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Balancing individual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rights with technological feasibility.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4786313" y="1119783"/>
            <a:ext cx="3786188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Technical Assets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544836"/>
            <a:ext cx="142875" cy="17859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36344" y="1544836"/>
            <a:ext cx="3536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Experiment Logs: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Full audit trail of genomic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hypothesis testing.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109192"/>
            <a:ext cx="107156" cy="17859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00625" y="2109192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 PDF Extracts: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Parsed clinical records for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automated analysis.</a:t>
            </a:r>
            <a:endParaRPr lang="en-US" sz="10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673548"/>
            <a:ext cx="178594" cy="178594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072063" y="2673548"/>
            <a:ext cx="3500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Analysis Scripts: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Reproducible pipeline for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heterozygosity and ROH.</a:t>
            </a:r>
            <a:endParaRPr lang="en-US" sz="10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237905"/>
            <a:ext cx="160734" cy="178594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54203" y="3237905"/>
            <a:ext cx="35182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Synthetic Genome Blueprint: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Framework for privacy-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preserving data generation.</a:t>
            </a:r>
            <a:endParaRPr lang="en-US" sz="10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802261"/>
            <a:ext cx="125016" cy="17859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018484" y="3802261"/>
            <a:ext cx="355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 Literature Database: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Curated repository of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TEE and GWAS research.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SCOTUS Relevance: Legal Frameworks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2500313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Fourth Amendment &amp; Digital Privacy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214688" y="1144786"/>
            <a:ext cx="143650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Carpenter v. U.S. (2018)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51195" y="1144786"/>
            <a:ext cx="28600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37196" y="1144786"/>
            <a:ext cx="14793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Riley v. California (2014)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16594" y="1144786"/>
            <a:ext cx="215152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Argues that genome-scale data is 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14688" y="1337667"/>
            <a:ext cx="48391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revealing as cell-site location or phone data, requiring analogous warrant protections.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14688" y="15055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Portfolio Link: TEE-based access controls as a "least restrictive alternative."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919883"/>
            <a:ext cx="2500313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Genetic Exceptionalism &amp; GINA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14688" y="1944886"/>
            <a:ext cx="207221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 v. Planned Parenthood (2019)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86905" y="1944886"/>
            <a:ext cx="31809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Addresses the constitutional boundaries of the Genetic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14688" y="2137767"/>
            <a:ext cx="2386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Information Nondiscrimination Act (GINA).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14688" y="23056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Portfolio Link: Verifiable privacy via Blockchain + TEE hybrids to prevent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14688" y="25342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discriminatory secondary use.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" y="2948583"/>
            <a:ext cx="2500313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Post-Dobbs Health Surveillance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14688" y="2973586"/>
            <a:ext cx="14937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Dobbs v. Jackson (2022)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08401" y="2973586"/>
            <a:ext cx="33739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Heightened scrutiny of digital health data that could reveal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14688" y="3166467"/>
            <a:ext cx="25300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sensitive medical history or biological status.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214688" y="33343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Portfolio Link: Federated learning and Differential Privacy to shield individual records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14688" y="35629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state surveillance.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1500" y="3977283"/>
            <a:ext cx="2500313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Procedural Due Process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14688" y="4002286"/>
            <a:ext cx="16364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Mathews v. Eldridge (1976)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51164" y="4002286"/>
            <a:ext cx="322160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The balancing test for due process. SSA pending-death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14688" y="4195167"/>
            <a:ext cx="3121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statistics (33,270) quantify the "private interest" weight.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14688" y="43630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Portfolio Link: Pathway PRS to accelerate disability determinations without sacrificing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14688" y="4591645"/>
            <a:ext cx="5357813" cy="228600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267944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Recommendations for SCOTUS Project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119783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Amicus Brief Support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387673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a </a:t>
            </a: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Appendix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demonstrating the feasibility of TEE and blockchain solutions for protecting genetic data in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disability and insurance contexts, providing the Court with a "least restrictive alternative" framework.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816298"/>
            <a:ext cx="8001000" cy="9179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816298"/>
            <a:ext cx="8001000" cy="7144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030611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Policy Simulation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2298502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secure data-sharing protocols for </a:t>
            </a: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SSA Genomic Risk Adjustment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Show how pathway PRSs combined with privacy-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enhancing technologies can expedite claims without compromising individual privacy.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2727127"/>
            <a:ext cx="8001000" cy="9179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727127"/>
            <a:ext cx="8001000" cy="7144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941439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Technical Demonstration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3209330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Deploy a </a:t>
            </a: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Minimal Viable TEE Enclave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process sample genomic queries. This tangible proof-of-concept makes abstract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privacy protections concrete for judicial and legislative stakeholders.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3637955"/>
            <a:ext cx="8001000" cy="9179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637955"/>
            <a:ext cx="8001000" cy="7144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852267"/>
            <a:ext cx="80010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Risk Highlight &amp; Advocacy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" y="4120158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Quantify the </a:t>
            </a:r>
            <a:r>
              <a:rPr lang="en-US" sz="10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Re-identification Risks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inherent in current health data practices. Emphasize how the lack of technical </a:t>
            </a:r>
            <a:r>
              <a:rPr lang="en-US" sz="10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safeguards creates a "chilling effect" on data sharing, harming both precision medicine and disability equity.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Future Work &amp; Refinement Focus Areas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26939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7275" y="1119783"/>
            <a:ext cx="33718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Deepen Pathway PRS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57275" y="1373386"/>
            <a:ext cx="33718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functional polygenic risk scores for ADHD and chronic conditions within TEEs to demonstrate privacy-preserving risk profiling.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811" y="1226939"/>
            <a:ext cx="225028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0650" y="1119783"/>
            <a:ext cx="33718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Visual Mortality Dashboard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200650" y="1373386"/>
            <a:ext cx="33718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an interactive state-by-state map of SSA pending-death statistics overlayed with regional genomic privacy legal frameworks.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" y="2344936"/>
            <a:ext cx="250031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7275" y="2237780"/>
            <a:ext cx="33718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Post-Quantum MPC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1057275" y="2491383"/>
            <a:ext cx="33718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Expand the privacy literature map to include secure multi-party computation readiness for long-lived genomic data assets.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811" y="2344936"/>
            <a:ext cx="225028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00650" y="2237780"/>
            <a:ext cx="33718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Model Data Agreements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5200650" y="2491383"/>
            <a:ext cx="33718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Draft template contracts incorporating TEE attestation and differential privacy budgets to shield participants from re-identification liability.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" y="3755827"/>
            <a:ext cx="250031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7275" y="3648670"/>
            <a:ext cx="751522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Daubert / Rule 702 Admissibility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1057275" y="3902273"/>
            <a:ext cx="7515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Formalize the reliability standards for genomic analysis methods (heterozygosity, ROH detection) to ensure evidentiary robustness in high-stakes litigation.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38569" y="410626"/>
            <a:ext cx="1866863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8181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357313" y="1091068"/>
            <a:ext cx="6429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portfolio demonstrates a </a:t>
            </a:r>
            <a:r>
              <a:rPr lang="en-US" sz="12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rigorous, reproducible, and privacy-conscious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integration of personal genomics, clinical records, and advanced computing. It 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provides a scalable blueprint for informing high-stakes judicial, legislative, and 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regulatory decisions.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1000125" y="2545491"/>
            <a:ext cx="7143750" cy="14962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2545491"/>
            <a:ext cx="7143750" cy="14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2838385"/>
            <a:ext cx="714375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Call to 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0125" y="3211646"/>
            <a:ext cx="71437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integration of </a:t>
            </a:r>
            <a:r>
              <a:rPr lang="en-US" sz="12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safeguards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with </a:t>
            </a:r>
            <a:r>
              <a:rPr lang="en-US" sz="1200" b="1" dirty="0">
                <a:solidFill>
                  <a:srgbClr val="1818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legal frameworks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is not merely a technical 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challenge—it is a societal necessity for advancing precision medicine while upholding </a:t>
            </a:r>
            <a:r>
              <a:rPr lang="en-US" sz="1250" dirty="0">
                <a:solidFill>
                  <a:srgbClr val="3F3F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fundamental constitutional rights.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257271" y="4034572"/>
            <a:ext cx="2629458" cy="691158"/>
          </a:xfrm>
          <a:prstGeom prst="rect">
            <a:avLst/>
          </a:prstGeom>
          <a:noFill/>
          <a:ln/>
        </p:spPr>
        <p:txBody>
          <a:bodyPr wrap="square" lIns="0" tIns="51028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2026-07-06T05:52:25Z</dcterms:created>
  <dcterms:modified xsi:type="dcterms:W3CDTF">2026-07-06T05:52:25Z</dcterms:modified>
</cp:coreProperties>
</file>